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Calibri"/>
              </a:rPr>
              <a:t>Hours at 35 °C and above, per year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≥35 °C per year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6F7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Cold</c:v>
                  </c:pt>
                  <c:pt idx="1">
                    <c:v>Temperate</c:v>
                  </c:pt>
                  <c:pt idx="2">
                    <c:v>Warm-Humid</c:v>
                  </c:pt>
                  <c:pt idx="3">
                    <c:v>BEE table (in force)</c:v>
                  </c:pt>
                  <c:pt idx="4">
                    <c:v>Composite</c:v>
                  </c:pt>
                  <c:pt idx="5">
                    <c:v>Undecided</c:v>
                  </c:pt>
                  <c:pt idx="6">
                    <c:v>Hot-Dry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</c:v>
                </c:pt>
                <c:pt idx="1">
                  <c:v>144</c:v>
                </c:pt>
                <c:pt idx="2">
                  <c:v>256</c:v>
                </c:pt>
                <c:pt idx="3">
                  <c:v>642</c:v>
                </c:pt>
                <c:pt idx="4">
                  <c:v>692</c:v>
                </c:pt>
                <c:pt idx="5">
                  <c:v>696</c:v>
                </c:pt>
                <c:pt idx="6">
                  <c:v>1019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methodology note sections 'Source data' and 'Which stations are used'. Station-day split is for the 128 stations, 434,165 station-days.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BEE Schedule 19 (2015) Table 1; ISO 16358-1:2013; Energy Commission Malaysia (Suruhanjaya Tenaga) Guide on MEPS for AC (2021): bins per ISO 16358-1 Table 3; LBNL/U4E ASEAN AC harmonization report (2021); SASO 2663:2021; GB 21455-2013/2019; AFM 88-29 Engineering Weather Data (1978). Verify the GB and SASO bin ranges against the standard text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Bracketed values = zone hours scaled to 1,600 using that zone's own total hours ≥24 °C (e.g. Hot-Dry 46.8/6,222 × 1,600 = 12.0). If the deck's options are labelled differently, map them to: A = cap at 43 and drop, B = merge into top bin, C = new 44+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Per-bin version (24 to 43 and 44+, 10-year counted hours by zone) to follow once IMD_BinHours_by_Zone_2_WITH_SPLINE.xlsx is available in this workspace. BEE ≥35 °C annual hours derived as 178 of 1,600 bin hours × 5,774/1,600 = 642.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bin-hours by climatic zone · draft for discussion with BEE, BIS and ISHRAE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128 stations were chosen, and IMD data limits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'challenges' box on slide 2. The six Undecided stations stay in the zone table; they are a zoning question, not a data gap.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selection (449 station codes → 128 used)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7607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69748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8 three-hourly readings 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 of station-days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season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Mar–31 Oct: ≥90% complete days, no gap &gt;15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per year, 2016–25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seasons of 10: A 8–10 · B 5–7 · C 1–4 · D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43 · B 56 · C 29 used; D 321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≥28 usable days in every calendar month over 10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128 pass (with spline)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ECBC 2017 list · NBC 2016 regional rule · project precedent · undecided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· 78 · 1 ·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257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as the earlier notebook: all 449 stations reproduce the same tier.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 in the IMD record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readings a day.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hourly record; the true daily peak can fall between the 14:30 and 17:30 IST readings.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stations unusable.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of 449 station codes (71%) have no usable cooling season in 2016–2025.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inside the 128.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 of station-days are incomplete: 4.5% fillable (1–2 readings), 2.7% 9-hour gaps, 7.0% three or more missing.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coverage.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Warm-Humid has 59 stations; Temperate 2 and Cold 3. 29 stations are Tier 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needed.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4,209 blank rows, repeated readings and impossible dates removed (5.31 M rows → 5.305 M valid readings).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zone in IMD metadata.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was placed using ECBC 2017 or NBC 2016.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how 3-hourly IMD readings become hours in each bin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A, no spline: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IMD reading counts for 3 hours. Nothing is filled in.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B, spline: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daily curve through the 8 readings gives 24 hourly values. Days missing 1–2 non-adjacent readings are filled from that day's own curve.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one real reading and predicting it gave the lowest error of 5 methods (0.94 °C) and almost no bias at 14:30 IST.</a:t>
            </a:r>
            <a:endParaRPr lang="en-US" sz="1400" dirty="0"/>
          </a:p>
        </p:txBody>
      </p:sp>
      <p:sp>
        <p:nvSpPr>
          <p:cNvPr id="5" name="outcome-box"/>
          <p:cNvSpPr/>
          <p:nvPr/>
        </p:nvSpPr>
        <p:spPr>
          <a:xfrm>
            <a:off x="457200" y="434340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FCEBD6"/>
          </a:solidFill>
          <a:ln w="12700">
            <a:solidFill>
              <a:srgbClr val="FCEB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4348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5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takes a reading at 14:30 IST, close to the hottest time of day, so the hot-hour bins rest on real measurements. The spline only fills the hours between readings.</a:t>
            </a:r>
            <a:endParaRPr lang="en-US" sz="1200" dirty="0"/>
          </a:p>
        </p:txBody>
      </p:sp>
      <p:sp>
        <p:nvSpPr>
          <p:cNvPr id="7" name="compare-panel"/>
          <p:cNvSpPr/>
          <p:nvPr/>
        </p:nvSpPr>
        <p:spPr>
          <a:xfrm>
            <a:off x="5760720" y="1143000"/>
            <a:ext cx="5989320" cy="512064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builds bin-hour tables, and how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91640"/>
          <a:ext cx="5623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745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India, BEE Sch. 19 / IS 1391 (in force)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°C bins from 24 °C; whole-year hours (5,774 → 1,600)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typical year per city (ISHRAE 2014, 54 cities); one national table; stops at 43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16358-1 (Malaysia, Thailand, Indonesia, Philippines, Vietnam)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bin-hour formula ISEER 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reference table, 21–35 °C, 1,817 h; Malaysia uses it unchanged, not local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Arabia, SASO 2663:2021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weather data replaces ISO default bins; covers very hot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national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China, GB 21455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°C bins starting at 24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bin 38 °C (2013 edition); one national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Engineering Weather Data (AFM 88-29)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3-hourly readings counted as 3 hours each, as in our Method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interpolation; 5 °F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943600" y="571500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scheme we found builds zone-wise tables from a 10-year raw station record; most use one national table or typical-year files.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year in each zone, compared with the table in force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= hours in ONE typical year at ONE station, averaged over the zone's stations. Built from 10 years of IMD readings (2016–2025); not a 10-year total. Whole year, with spline.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463040"/>
                <a:gridCol w="1005840"/>
                <a:gridCol w="1371600"/>
                <a:gridCol w="1188720"/>
                <a:gridCol w="13716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hours ≥24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5,774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≥35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43–44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°C and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°C and above (new)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Warm-Humid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in force (BEE Sch. 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cities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≈11 (43 bin)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9834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Hot-Dry station has about 47 hours a year at 43 °C or above, four times the ≈11 hours in the table in force. Cooling-months (Mar–Oct) figures for 43 °C and above are identical, since all such hours fall in those months.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BEE per-bin annual hours derived as bin hours × 5,774/1,600 (e.g. 43 °C: 3 × 3.609 ≈ 11). Replace with the exact Schedule 19 Table 1 column before circulation.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at 44 °C and above: results under each option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year per station, zone average (whole year, with spline). Bracket: the same hours on BEE's 1,600-hour scale; the table in force puts 3 of 1,600 hours in its 43 °C bin.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37744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today: 43–44 °C | 44 °C+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A: keep 24–43 °C, drop 44 °C+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B: top bin = 43 °C and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C: add a separate 44 °C+ 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 | 26.0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20.8 (5.3)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h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43+ bin 46.8 (12.0)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20.8 (5.3)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44+ bin 26.0 (6.7)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 | 12.2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15.4 (4.4)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 h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43+ bin 27.6 (7.9)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15.4 (4.4)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44+ bin 12.2 (3.5)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| 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7.0 (1.8)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h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43+ bin 9.6 (2.4)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7.0 (1.8)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44+ bin 2.6 (0.7)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Warm-Humid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| 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bin 0.7 (0.2)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43+ bin 1.0 (0.2)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44+ bin 0.3 (0.1)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Temperate, Cold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|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option-card-0"/>
          <p:cNvSpPr/>
          <p:nvPr/>
        </p:nvSpPr>
        <p:spPr>
          <a:xfrm>
            <a:off x="457200" y="41605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423367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 shape as today, but undercounts the hottest hours where ACs work hardest (26 h/yr lost in Hot-Dry).</a:t>
            </a:r>
            <a:endParaRPr lang="en-US" sz="1400" dirty="0"/>
          </a:p>
        </p:txBody>
      </p:sp>
      <p:sp>
        <p:nvSpPr>
          <p:cNvPr id="7" name="option-card-1"/>
          <p:cNvSpPr/>
          <p:nvPr/>
        </p:nvSpPr>
        <p:spPr>
          <a:xfrm>
            <a:off x="4297680" y="41605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423367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20 bins and the ISEER formula; the top bin in Hot-Dry grows from 5.3 to 12.0 of 1,600 hours, 4× the 3 in force.</a:t>
            </a:r>
            <a:endParaRPr lang="en-US" sz="1400" dirty="0"/>
          </a:p>
        </p:txBody>
      </p:sp>
      <p:sp>
        <p:nvSpPr>
          <p:cNvPr id="9" name="option-card-2"/>
          <p:cNvSpPr/>
          <p:nvPr/>
        </p:nvSpPr>
        <p:spPr>
          <a:xfrm>
            <a:off x="8138160" y="41605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423367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precise, but adds a 21st bin and a change to the ISEER calculation and the IS 1391 / IS 18154 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behind the numbers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Smooth daily curve.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between IMD's 3-hourly readings follows a smooth daily cycle (spline tested: 0.94 °C mean error, no bias at 14:30).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Recent decade = today's climate.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 represents current conditions; no adjustment for the warming trend, which would add hot hours.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Missing days look like recorded days.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station's missing days in a month are assumed similar to its recorded days in that month.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Stations stand for their zone.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counts equally in its zone average; no weighting by population or AC stock.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Station air = air at the AC.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and observatory readings represent outdoor-unit air; urban heat and rooftop effects are not captured.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consultation on the method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(BEE, BIS, ISHRAE, IMD): spline or not, bin labels, months, the 44 °C option and zone weighting.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data gaps: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IMD hourly AWS data and daily maximum temperatures for weak stations; cross-check with hourly airport (METAR) records.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29184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need more readings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 stations: Bengaluru (Tier C) and Coimbatore (zone not on ECBC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stations (Srinagar, Sundernagar, Shillong); none from Ladakh, Uttarakhand hills or Sikkim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Hot-Dry, Tier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Ajmer, Aurangabad, Deesa, Solapur, Udaipur: this zone sets the 43 °C+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India heat belt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(Palam), Gwalior, Jabalpur, Raipur, Bhopal: large markets, Tier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Deccan, Undecided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Gulbarga, Anantapur (Tier C): more stations needed to settle the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Annex: first result against the table in force (5,774 hours)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comparison, whole year, with spline. Hours per year per station, zone average. A national table still needs a zone-weighting decision.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868680"/>
                <a:gridCol w="105156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≥24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5,774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≥35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≈642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≥35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(42)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Hot-Dry 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Warm-Humid (59)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Undecided (6)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128, simple mean*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in force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12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Each of the 128 stations counted once. Not a national weighting: 59 of 128 stations are Warm-Humid, which pulls total hours up and hot hours down.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0" y="1463040"/>
          <a:ext cx="4251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totals are within 8% of 5,774 in Composite and Hot-Dry, but the hot tail is heavier in Hot-Dry. Which zones carry how much weight decides the national table.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CLASP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 bin-hours by zone: add-on slides for BEE review</dc:title>
  <dc:subject>PptxGenJS Presentation</dc:subject>
  <dc:creator>PptxGenJS</dc:creator>
  <cp:lastModifiedBy>PptxGenJS</cp:lastModifiedBy>
  <cp:revision>1</cp:revision>
  <dcterms:created xsi:type="dcterms:W3CDTF">2026-10-02T19:00:12Z</dcterms:created>
  <dcterms:modified xsi:type="dcterms:W3CDTF">2026-10-02T19:00:12Z</dcterms:modified>
</cp:coreProperties>
</file>